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22" autoAdjust="0"/>
  </p:normalViewPr>
  <p:slideViewPr>
    <p:cSldViewPr snapToGrid="0" snapToObjects="1">
      <p:cViewPr varScale="1">
        <p:scale>
          <a:sx n="134" d="100"/>
          <a:sy n="134" d="100"/>
        </p:scale>
        <p:origin x="129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762E-DF09-4E3B-A66D-E01553663D1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0EDC-E63A-423D-8D16-04809F2D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2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Интервютата остават един от най-стресиращите и лошо подготвени етапи от набирането на персонал</a:t>
            </a:r>
            <a:endParaRPr lang="en-US" dirty="0"/>
          </a:p>
          <a:p>
            <a:r>
              <a:rPr lang="ru-RU" dirty="0"/>
              <a:t>Повечето кандидати разчитат на статични ресурси: текстови ръководства, списъци с въпроси и симулативни сесии с колеги</a:t>
            </a:r>
            <a:endParaRPr lang="en-US" dirty="0"/>
          </a:p>
          <a:p>
            <a:r>
              <a:rPr lang="ru-RU" dirty="0"/>
              <a:t>Съществуващите платформи предлагат ограничено участие на ИИ - обикновено само предложения за въпроси</a:t>
            </a:r>
            <a:endParaRPr lang="en-US" dirty="0"/>
          </a:p>
          <a:p>
            <a:r>
              <a:rPr lang="ru-RU" dirty="0"/>
              <a:t>&gt; Няма широкодостъпно решение, което да комбинира генериране на въпроси, оценка на отговорите,</a:t>
            </a:r>
            <a:endParaRPr lang="en-US" dirty="0"/>
          </a:p>
          <a:p>
            <a:endParaRPr lang="en-US" dirty="0"/>
          </a:p>
          <a:p>
            <a:r>
              <a:rPr lang="ru-RU" dirty="0"/>
              <a:t>&gt; Разликата: персонализирана, мултимодална, задвижвана от изкуствен интелект подготовка в голям мащаб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10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Проектирайте пълнофункционално уеб приложение за цялостна подготовка за интервюта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Интегриране на множество големи езикови модели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Генерирайте специфични за ролята въпроси, основани на методологията за интервюта STAR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Осигурете автоматизирана оценка на всеки отговор с точкуване и обратна връзка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Внедрете модул за симулация на глас в реално време за симулация на интервюта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Отворете табло за статистика за проследяване на напредъка в рамките на няколко сесии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5D6D7E"/>
                </a:solidFill>
              </a:rPr>
              <a:t> -  Configurable soft-skill focus areas and contextual scenarios</a:t>
            </a:r>
          </a:p>
          <a:p>
            <a:pPr marL="171450" indent="-171450">
              <a:buFontTx/>
              <a:buChar char="-"/>
            </a:pPr>
            <a:r>
              <a:rPr lang="ru-RU" dirty="0"/>
              <a:t>Конфигурируеми фокусни области на меки умения и контекстуални сценарии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 Видове въпроси с единичен избор, с избираем отговор и с отворен отговор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- Специфични за ролята въпроси, съобразени с нивото на старшинство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- Разбиране на код, дизайнерски модели и алгоритмично мислене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гласов разговор на живо чрез ElevenLabs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- Синтез и транскрипция на реч в реално време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ru-RU" dirty="0"/>
              <a:t>- Разговорният агент симулира действителен интервюиращ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98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Всеки подаден отговор се изпраща до избрания LLM със структурирани инструкции за оценка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Скала за оценяване: от 1 (лошо) до 10 (отлично) - еднаква за всички доставчици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Моделът връща обратна връзка за всеки отговор, съобразена с оригиналната област на компетентност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Полето SelectedAnswer се проверява кръстосано спрямо индекса на заявката, за да се предотвратят несъответствия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Оценените резултати се запазват в базата данни и се показват в таблото за статистика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Общият резултат за сесията се изчислява от резултатите от отделните въпроси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4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prepAIred предоставя сплотено, задвижвано от изкуствен интелект преживяване при подготовка за интервюта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Многопровайдерската архитектура изолира приложението от всеки един доставчик на модел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Базираното на STAR инженерство осигурява структурирано и приложимо съдържание за интервюта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&gt; Гласовата симулация запълва разликата между текстовата подготовка и реалните интервюта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- Разбор на автобиография - автоматично попълване на теми за въпроси от качена</a:t>
            </a:r>
            <a:r>
              <a:rPr lang="en-US" baseline="-25000" dirty="0"/>
              <a:t> CV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- Адаптивна трудност - коригирайте сложността на въпросите въз основа на резултатите от предишни сесии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- Мобилно приложение - вграден iOS/Android клиент за практика в движение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0EDC-E63A-423D-8D16-04809F2D0F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1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5B78F-133C-475D-E84F-1C36514650C8}"/>
              </a:ext>
            </a:extLst>
          </p:cNvPr>
          <p:cNvSpPr txBox="1"/>
          <p:nvPr/>
        </p:nvSpPr>
        <p:spPr>
          <a:xfrm>
            <a:off x="6123390" y="2443162"/>
            <a:ext cx="3200532" cy="8734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kern="1200" dirty="0" err="1">
                <a:latin typeface="+mj-lt"/>
                <a:ea typeface="+mj-ea"/>
                <a:cs typeface="+mj-cs"/>
              </a:rPr>
              <a:t>prepAIred</a:t>
            </a:r>
            <a:endParaRPr lang="en-US" sz="4000" b="1" i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0AC7E-3772-D66B-DAA7-1DE9474D6A6E}"/>
              </a:ext>
            </a:extLst>
          </p:cNvPr>
          <p:cNvSpPr/>
          <p:nvPr/>
        </p:nvSpPr>
        <p:spPr>
          <a:xfrm>
            <a:off x="7723656" y="31441"/>
            <a:ext cx="4320707" cy="4305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AMEE 52</a:t>
            </a:r>
            <a:r>
              <a:rPr lang="en-US" sz="2000" b="1" baseline="30000" dirty="0"/>
              <a:t>nd</a:t>
            </a:r>
            <a:r>
              <a:rPr lang="en-US" sz="2000" b="1" dirty="0"/>
              <a:t> International Conference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9B7B02-B1F4-578B-81EB-4B74BA51C16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3050" y="0"/>
            <a:ext cx="4857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58CB03-FC4D-A811-C717-5B73E7B3F3A3}"/>
              </a:ext>
            </a:extLst>
          </p:cNvPr>
          <p:cNvSpPr txBox="1"/>
          <p:nvPr/>
        </p:nvSpPr>
        <p:spPr>
          <a:xfrm>
            <a:off x="4900214" y="3316605"/>
            <a:ext cx="65895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/>
              <a:t>Intelligent System for Interview Preparation and Simulation</a:t>
            </a:r>
          </a:p>
          <a:p>
            <a:pPr algn="ctr"/>
            <a:r>
              <a:rPr lang="en-US" sz="1200" b="0" i="0" dirty="0"/>
              <a:t>Vasil Ganev</a:t>
            </a:r>
          </a:p>
        </p:txBody>
      </p:sp>
    </p:spTree>
    <p:extLst>
      <p:ext uri="{BB962C8B-B14F-4D97-AF65-F5344CB8AC3E}">
        <p14:creationId xmlns:p14="http://schemas.microsoft.com/office/powerpoint/2010/main" val="365958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Interviews remain one of the most stressful and poorly-prepared-for stages of recruitment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Most candidates rely on static resources: text guides, question lists, and peer mock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Existing platforms offer limited AI involvement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typically only question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549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There is no widely accessible solution combining question generation, answer evaluation,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6D7E"/>
                </a:solidFill>
              </a:rPr>
              <a:t>    -  and real-time voice-based simulation within a single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The gap: </a:t>
            </a:r>
            <a:r>
              <a:rPr sz="1700" b="0" i="0" dirty="0" err="1">
                <a:solidFill>
                  <a:srgbClr val="1A2B4A"/>
                </a:solidFill>
              </a:rPr>
              <a:t>personalised</a:t>
            </a:r>
            <a:r>
              <a:rPr sz="1700" b="0" i="0" dirty="0">
                <a:solidFill>
                  <a:srgbClr val="1A2B4A"/>
                </a:solidFill>
              </a:rPr>
              <a:t>, multi-modal, AI-driven preparation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Design a full-stack application for end-to-end interview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b="0" i="0" dirty="0">
                <a:solidFill>
                  <a:srgbClr val="1A2B4A"/>
                </a:solidFill>
              </a:rPr>
              <a:t>  &gt;  Integrate multiple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Generate role-specific questions grounded in the STAR interview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549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Provide automated, per-answer evaluation with scoring and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Implement a real-time voice simulation module for mock interview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Expose a statistics dashboard for tracking progress over multiple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7132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721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72184"/>
            <a:ext cx="7315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React 18 + TypeScript  |  Kendo UI component library  |  Tailwind CSS  |  React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95144"/>
            <a:ext cx="11274552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50008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4F8"/>
                </a:solidFill>
              </a:rPr>
              <a:t>ASP.NET Core </a:t>
            </a:r>
            <a:r>
              <a:rPr lang="en-US" sz="1300" b="0" i="0" dirty="0">
                <a:solidFill>
                  <a:srgbClr val="F0F4F8"/>
                </a:solidFill>
              </a:rPr>
              <a:t>9</a:t>
            </a:r>
            <a:r>
              <a:rPr sz="1300" b="0" i="0" dirty="0">
                <a:solidFill>
                  <a:srgbClr val="F0F4F8"/>
                </a:solidFill>
              </a:rPr>
              <a:t> Web API  |  RESTful endpoints  |  JWT + Refresh Token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72968"/>
            <a:ext cx="11274552" cy="7132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27832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Service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27832"/>
            <a:ext cx="7315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Domain services: Interview, Session, AI, User, ProfilePicture, File, 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50791"/>
            <a:ext cx="11274552" cy="713232"/>
          </a:xfrm>
          <a:prstGeom prst="rect">
            <a:avLst/>
          </a:prstGeom>
          <a:solidFill>
            <a:srgbClr val="1A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105655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105655"/>
            <a:ext cx="7315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Entity Framework Core  |  Repository pattern  |  MS SQL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28616"/>
            <a:ext cx="11274552" cy="713232"/>
          </a:xfrm>
          <a:prstGeom prst="rect">
            <a:avLst/>
          </a:prstGeom>
          <a:solidFill>
            <a:srgbClr val="5D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79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External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83479"/>
            <a:ext cx="7315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OpenAI GPT-4  |  Anthropic Claude 3  |  Google Gemini  |  ElevenLabs Voice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Interview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 dirty="0">
                <a:solidFill>
                  <a:srgbClr val="1A2B4A"/>
                </a:solidFill>
              </a:rPr>
              <a:t>  &gt;  HR Interview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</a:t>
            </a:r>
            <a:r>
              <a:rPr lang="en-US" sz="1700" dirty="0">
                <a:solidFill>
                  <a:srgbClr val="1A2B4A"/>
                </a:solidFill>
              </a:rPr>
              <a:t>behavioral and competency-based questions</a:t>
            </a:r>
            <a:endParaRPr sz="1700" b="0" i="0" dirty="0">
              <a:solidFill>
                <a:srgbClr val="1A2B4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Questions follow STAR: Situation, Task, Action, Result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Configurable soft-skill focus areas and contextual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549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Single-choice, multiple-choice, and open-ended question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Technical Interview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position and </a:t>
            </a:r>
            <a:r>
              <a:rPr lang="en-US" sz="1700" dirty="0">
                <a:solidFill>
                  <a:srgbClr val="1A2B4A"/>
                </a:solidFill>
              </a:rPr>
              <a:t>position-related </a:t>
            </a:r>
            <a:r>
              <a:rPr lang="en-US" sz="1700" b="0" i="0" dirty="0">
                <a:solidFill>
                  <a:srgbClr val="1A2B4A"/>
                </a:solidFill>
              </a:rPr>
              <a:t>questions</a:t>
            </a:r>
            <a:endParaRPr sz="1700" b="0" i="0" dirty="0">
              <a:solidFill>
                <a:srgbClr val="1A2B4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Role-specific question sets aligned to seniority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42231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Code comprehension, design patterns, and algorithmic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81144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Mock Interview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live voice conversation via </a:t>
            </a:r>
            <a:r>
              <a:rPr sz="1700" b="0" i="0" dirty="0" err="1">
                <a:solidFill>
                  <a:srgbClr val="1A2B4A"/>
                </a:solidFill>
              </a:rPr>
              <a:t>ElevenLabs</a:t>
            </a:r>
            <a:endParaRPr sz="1700" b="0" i="0" dirty="0">
              <a:solidFill>
                <a:srgbClr val="1A2B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02005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Real-time speech synthesis and transcription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5896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Conversational agent simulates an actual interviewer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A9E894-9E35-90FA-3B2E-024E0A5A3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867" y="1909953"/>
            <a:ext cx="5695137" cy="3870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AI-Driven Evaluation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522031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Each submitted answer is sent to the selected LLM with structured evaluation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38528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Scoring scale: 1 (poor) to </a:t>
            </a:r>
            <a:r>
              <a:rPr lang="en-US" sz="1700" b="0" i="0" dirty="0">
                <a:solidFill>
                  <a:srgbClr val="1A2B4A"/>
                </a:solidFill>
              </a:rPr>
              <a:t>10</a:t>
            </a:r>
            <a:r>
              <a:rPr sz="1700" b="0" i="0" dirty="0">
                <a:solidFill>
                  <a:srgbClr val="1A2B4A"/>
                </a:solidFill>
              </a:rPr>
              <a:t> (excellent)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consistent across all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86584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The model returns per-answer feedback aligned to the original competency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83107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</a:t>
            </a:r>
            <a:r>
              <a:rPr sz="1700" b="0" i="0" dirty="0" err="1">
                <a:solidFill>
                  <a:srgbClr val="1A2B4A"/>
                </a:solidFill>
              </a:rPr>
              <a:t>SelectedAnswer</a:t>
            </a:r>
            <a:r>
              <a:rPr sz="1700" b="0" i="0" dirty="0">
                <a:solidFill>
                  <a:srgbClr val="1A2B4A"/>
                </a:solidFill>
              </a:rPr>
              <a:t> field is cross-validated against the request index to prevent mismatches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7355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Evaluated results are persisted to the database and surfaced in the statistics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Aggregate session score is calculated from individual question scores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827BD8-779B-94BA-F185-12035BCC9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906" y="1868468"/>
            <a:ext cx="3860435" cy="44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Statistics &amp;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Performance over time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line chart tracking average session scores across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Interview distribution by position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bar chart showing role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Programming language coverage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chart of technical interview language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5496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Detailed session grid  </a:t>
            </a:r>
            <a:r>
              <a:rPr lang="en-US" sz="170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sortable, filterable table of all past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Session activity log  </a:t>
            </a:r>
            <a:r>
              <a:rPr lang="en-US" sz="1700" b="0" i="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timeline of recent preparation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Profile statistics card  </a:t>
            </a:r>
            <a:r>
              <a:rPr lang="en-US" sz="1700" dirty="0">
                <a:solidFill>
                  <a:srgbClr val="1A2B4A"/>
                </a:solidFill>
              </a:rPr>
              <a:t>-</a:t>
            </a:r>
            <a:r>
              <a:rPr sz="1700" b="0" i="0" dirty="0">
                <a:solidFill>
                  <a:srgbClr val="1A2B4A"/>
                </a:solidFill>
              </a:rPr>
              <a:t>  total sessions, average score, highest score, streak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73DCF6-9B85-FB35-5478-B93D8FD5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88825" cy="3394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02F40D-AC4E-7B85-3699-B188BF9DB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3350403"/>
            <a:ext cx="12188827" cy="356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4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</a:t>
            </a:r>
            <a:r>
              <a:rPr sz="1700" b="0" i="0" dirty="0" err="1">
                <a:solidFill>
                  <a:srgbClr val="1A2B4A"/>
                </a:solidFill>
              </a:rPr>
              <a:t>prepAIred</a:t>
            </a:r>
            <a:r>
              <a:rPr sz="1700" b="0" i="0" dirty="0">
                <a:solidFill>
                  <a:srgbClr val="1A2B4A"/>
                </a:solidFill>
              </a:rPr>
              <a:t> delivers a cohesive, AI-powered interview preparation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The multi-provider architecture isolates the application from any single model vendor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STAR-based prompt engineering yields structured, actionable interview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5496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Voice simulation closes the gap between text-based preparation and real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1A2B4A"/>
                </a:solidFill>
              </a:rPr>
              <a:t>  &gt;  Future directions: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42231"/>
            <a:ext cx="1127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Resume parsing </a:t>
            </a:r>
            <a:r>
              <a:rPr lang="en-US" sz="1500" b="0" i="0" dirty="0">
                <a:solidFill>
                  <a:srgbClr val="5D6D7E"/>
                </a:solidFill>
              </a:rPr>
              <a:t>-</a:t>
            </a:r>
            <a:r>
              <a:rPr sz="1500" b="0" i="0" dirty="0">
                <a:solidFill>
                  <a:srgbClr val="5D6D7E"/>
                </a:solidFill>
              </a:rPr>
              <a:t> auto-populate question topics from an uploaded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81144"/>
            <a:ext cx="1127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Adaptive difficulty </a:t>
            </a:r>
            <a:r>
              <a:rPr lang="en-US" sz="1500" b="0" i="0" dirty="0">
                <a:solidFill>
                  <a:srgbClr val="5D6D7E"/>
                </a:solidFill>
              </a:rPr>
              <a:t>-</a:t>
            </a:r>
            <a:r>
              <a:rPr sz="1500" b="0" i="0" dirty="0">
                <a:solidFill>
                  <a:srgbClr val="5D6D7E"/>
                </a:solidFill>
              </a:rPr>
              <a:t> adjust question complexity based on prior session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4309"/>
            <a:ext cx="1127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5D6D7E"/>
                </a:solidFill>
              </a:rPr>
              <a:t>    -  Mobile application </a:t>
            </a:r>
            <a:r>
              <a:rPr lang="en-US" sz="1500" b="0" i="0" dirty="0">
                <a:solidFill>
                  <a:srgbClr val="5D6D7E"/>
                </a:solidFill>
              </a:rPr>
              <a:t>-</a:t>
            </a:r>
            <a:r>
              <a:rPr sz="1500" b="0" i="0" dirty="0">
                <a:solidFill>
                  <a:srgbClr val="5D6D7E"/>
                </a:solidFill>
              </a:rPr>
              <a:t> native iOS/Android client for on-the-go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B93BB3C-2A37-D92F-4C70-C5A04C56B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21" r="-1" b="9324"/>
          <a:stretch>
            <a:fillRect/>
          </a:stretch>
        </p:blipFill>
        <p:spPr>
          <a:xfrm>
            <a:off x="3881558" y="10"/>
            <a:ext cx="8307266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4580332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4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1017</Words>
  <Application>Microsoft Office PowerPoint</Application>
  <PresentationFormat>Custom</PresentationFormat>
  <Paragraphs>105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 Ganev</cp:lastModifiedBy>
  <cp:revision>11</cp:revision>
  <dcterms:created xsi:type="dcterms:W3CDTF">2013-01-27T09:14:16Z</dcterms:created>
  <dcterms:modified xsi:type="dcterms:W3CDTF">2026-06-07T13:11:52Z</dcterms:modified>
  <cp:category/>
</cp:coreProperties>
</file>