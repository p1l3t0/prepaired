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Garamond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81660B4-5E7C-4B2E-9180-761F5340445E}">
  <a:tblStyle styleId="{C81660B4-5E7C-4B2E-9180-761F5340445E}" styleName="Table_0">
    <a:wholeTbl>
      <a:tcTxStyle b="off" i="off">
        <a:font>
          <a:latin typeface="Garamond"/>
          <a:ea typeface="Garamond"/>
          <a:cs typeface="Garamond"/>
        </a:font>
        <a:schemeClr val="dk1"/>
      </a:tcTxStyle>
      <a:tcStyle>
        <a:tcBdr>
          <a:left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accent4">
              <a:alpha val="40000"/>
            </a:schemeClr>
          </a:solidFill>
        </a:fill>
      </a:tcStyle>
    </a:band1H>
    <a:band2H>
      <a:tcTxStyle b="off" i="off"/>
    </a:band2H>
    <a:band1V>
      <a:tcTxStyle b="off" i="off"/>
      <a:tcStyle>
        <a:tcBdr>
          <a:top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TxStyle b="off" i="off"/>
    </a:band2V>
    <a:lastCol>
      <a:tcTxStyle b="on" i="off"/>
      <a:tcStyle>
        <a:tcBdr>
          <a:left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lastCol>
    <a:firstCol>
      <a:tcTxStyle b="on" i="off"/>
      <a:tcStyle>
        <a:tcBdr>
          <a:left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firstCol>
    <a:lastRow>
      <a:tcTxStyle b="on" i="off"/>
      <a:tcStyle>
        <a:tcBdr>
          <a:left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Garamond"/>
          <a:ea typeface="Garamond"/>
          <a:cs typeface="Garamond"/>
        </a:font>
        <a:schemeClr val="lt1"/>
      </a:tcTxStyle>
      <a:tcStyle>
        <a:tcBdr>
          <a:left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4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aramond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Garamond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Garamond-bold.fntdata"/><Relationship Id="rId6" Type="http://schemas.openxmlformats.org/officeDocument/2006/relationships/slide" Target="slides/slide1.xml"/><Relationship Id="rId18" Type="http://schemas.openxmlformats.org/officeDocument/2006/relationships/font" Target="fonts/Garamon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be971d4d8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fbe971d4d8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fbe971d4d8_1_1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4" name="Google Shape;254;g3fbe971d4d8_1_1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3" name="Google Shape;27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9" name="Google Shape;27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2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2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3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descr="HD-PanelTitleR1.png" id="29" name="Google Shape;29;p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" name="Google Shape;30;p3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cap="flat" cmpd="sng" w="15875">
              <a:solidFill>
                <a:schemeClr val="accent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HDRibbonTitle-UniformTrim.png" id="31" name="Google Shape;31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DRibbonTitle-UniformTrim.png" id="32" name="Google Shape;32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" name="Google Shape;33;p3"/>
          <p:cNvSpPr txBox="1"/>
          <p:nvPr>
            <p:ph type="ctrTitle"/>
          </p:nvPr>
        </p:nvSpPr>
        <p:spPr>
          <a:xfrm>
            <a:off x="2692398" y="1871131"/>
            <a:ext cx="6815669" cy="15155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Garamond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1" type="subTitle"/>
          </p:nvPr>
        </p:nvSpPr>
        <p:spPr>
          <a:xfrm>
            <a:off x="2692398" y="3657597"/>
            <a:ext cx="6815669" cy="13208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241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1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3"/>
          <p:cNvSpPr txBox="1"/>
          <p:nvPr>
            <p:ph idx="10" type="dt"/>
          </p:nvPr>
        </p:nvSpPr>
        <p:spPr>
          <a:xfrm>
            <a:off x="7983232" y="5037663"/>
            <a:ext cx="89746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11" type="ftr"/>
          </p:nvPr>
        </p:nvSpPr>
        <p:spPr>
          <a:xfrm>
            <a:off x="2692397" y="5037663"/>
            <a:ext cx="5214635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"/>
          <p:cNvSpPr txBox="1"/>
          <p:nvPr>
            <p:ph idx="12" type="sldNum"/>
          </p:nvPr>
        </p:nvSpPr>
        <p:spPr>
          <a:xfrm>
            <a:off x="8956900" y="5037663"/>
            <a:ext cx="55116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8" name="Google Shape;38;p3"/>
          <p:cNvCxnSpPr/>
          <p:nvPr/>
        </p:nvCxnSpPr>
        <p:spPr>
          <a:xfrm>
            <a:off x="2692399" y="3522131"/>
            <a:ext cx="681566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 txBox="1"/>
          <p:nvPr>
            <p:ph type="title"/>
          </p:nvPr>
        </p:nvSpPr>
        <p:spPr>
          <a:xfrm>
            <a:off x="2015069" y="1752606"/>
            <a:ext cx="8158688" cy="1822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b="0" sz="44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" type="body"/>
          </p:nvPr>
        </p:nvSpPr>
        <p:spPr>
          <a:xfrm>
            <a:off x="2015067" y="3846051"/>
            <a:ext cx="8158690" cy="9545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76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" name="Google Shape;42;p4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5" name="Google Shape;45;p4"/>
          <p:cNvCxnSpPr/>
          <p:nvPr/>
        </p:nvCxnSpPr>
        <p:spPr>
          <a:xfrm>
            <a:off x="2012723" y="3710585"/>
            <a:ext cx="816338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Google Shape;47;p5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5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"/>
          <p:cNvSpPr txBox="1"/>
          <p:nvPr>
            <p:ph idx="1" type="body"/>
          </p:nvPr>
        </p:nvSpPr>
        <p:spPr>
          <a:xfrm>
            <a:off x="1298448" y="2560320"/>
            <a:ext cx="4718304" cy="3310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50" name="Google Shape;50;p5"/>
          <p:cNvSpPr txBox="1"/>
          <p:nvPr>
            <p:ph idx="2" type="body"/>
          </p:nvPr>
        </p:nvSpPr>
        <p:spPr>
          <a:xfrm>
            <a:off x="6181344" y="2560320"/>
            <a:ext cx="4718304" cy="3310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" type="body"/>
          </p:nvPr>
        </p:nvSpPr>
        <p:spPr>
          <a:xfrm>
            <a:off x="1295400" y="2658533"/>
            <a:ext cx="471830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SzPts val="3220"/>
              <a:buNone/>
              <a:defRPr b="0" sz="28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40"/>
              <a:buNone/>
              <a:defRPr b="1" sz="1600"/>
            </a:lvl9pPr>
          </a:lstStyle>
          <a:p/>
        </p:txBody>
      </p:sp>
      <p:sp>
        <p:nvSpPr>
          <p:cNvPr id="57" name="Google Shape;57;p6"/>
          <p:cNvSpPr txBox="1"/>
          <p:nvPr>
            <p:ph idx="2" type="body"/>
          </p:nvPr>
        </p:nvSpPr>
        <p:spPr>
          <a:xfrm>
            <a:off x="1295400" y="3243262"/>
            <a:ext cx="4718304" cy="26326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3" type="body"/>
          </p:nvPr>
        </p:nvSpPr>
        <p:spPr>
          <a:xfrm>
            <a:off x="6180670" y="2658533"/>
            <a:ext cx="471830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SzPts val="3220"/>
              <a:buNone/>
              <a:defRPr b="0" sz="28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40"/>
              <a:buNone/>
              <a:defRPr b="1" sz="1600"/>
            </a:lvl9pPr>
          </a:lstStyle>
          <a:p/>
        </p:txBody>
      </p:sp>
      <p:sp>
        <p:nvSpPr>
          <p:cNvPr id="59" name="Google Shape;59;p6"/>
          <p:cNvSpPr txBox="1"/>
          <p:nvPr>
            <p:ph idx="4" type="body"/>
          </p:nvPr>
        </p:nvSpPr>
        <p:spPr>
          <a:xfrm>
            <a:off x="6180670" y="3243262"/>
            <a:ext cx="4718304" cy="26326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60" name="Google Shape;60;p6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6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6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3" name="Google Shape;63;p6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7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9" name="Google Shape;69;p7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8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8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8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 txBox="1"/>
          <p:nvPr>
            <p:ph type="title"/>
          </p:nvPr>
        </p:nvSpPr>
        <p:spPr>
          <a:xfrm>
            <a:off x="1293811" y="1388534"/>
            <a:ext cx="371845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Garamond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" type="body"/>
          </p:nvPr>
        </p:nvSpPr>
        <p:spPr>
          <a:xfrm>
            <a:off x="5418668" y="982131"/>
            <a:ext cx="5469466" cy="4893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6004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2" type="body"/>
          </p:nvPr>
        </p:nvSpPr>
        <p:spPr>
          <a:xfrm>
            <a:off x="1293811" y="3031065"/>
            <a:ext cx="3718455" cy="2438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84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/>
        </p:txBody>
      </p:sp>
      <p:sp>
        <p:nvSpPr>
          <p:cNvPr id="78" name="Google Shape;78;p9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9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1" name="Google Shape;81;p9"/>
          <p:cNvCxnSpPr/>
          <p:nvPr/>
        </p:nvCxnSpPr>
        <p:spPr>
          <a:xfrm>
            <a:off x="1396169" y="2912533"/>
            <a:ext cx="35144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 txBox="1"/>
          <p:nvPr>
            <p:ph type="title"/>
          </p:nvPr>
        </p:nvSpPr>
        <p:spPr>
          <a:xfrm>
            <a:off x="1295399" y="1883832"/>
            <a:ext cx="6241816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aramond"/>
              <a:buNone/>
              <a:defRPr b="0"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0"/>
          <p:cNvSpPr/>
          <p:nvPr>
            <p:ph idx="2" type="pic"/>
          </p:nvPr>
        </p:nvSpPr>
        <p:spPr>
          <a:xfrm>
            <a:off x="8094831" y="1041400"/>
            <a:ext cx="3063347" cy="4775200"/>
          </a:xfrm>
          <a:prstGeom prst="roundRect">
            <a:avLst>
              <a:gd fmla="val 0" name="adj"/>
            </a:avLst>
          </a:prstGeom>
          <a:noFill/>
          <a:ln cap="flat" cmpd="thickThin" w="57150">
            <a:solidFill>
              <a:srgbClr val="7F7F7F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85" name="Google Shape;85;p10"/>
          <p:cNvSpPr txBox="1"/>
          <p:nvPr>
            <p:ph idx="1" type="body"/>
          </p:nvPr>
        </p:nvSpPr>
        <p:spPr>
          <a:xfrm>
            <a:off x="1295399" y="3255432"/>
            <a:ext cx="6241816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7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/>
        </p:txBody>
      </p:sp>
      <p:sp>
        <p:nvSpPr>
          <p:cNvPr id="86" name="Google Shape;86;p10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0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1"/>
          <p:cNvSpPr txBox="1"/>
          <p:nvPr>
            <p:ph type="title"/>
          </p:nvPr>
        </p:nvSpPr>
        <p:spPr>
          <a:xfrm>
            <a:off x="1295401" y="4815415"/>
            <a:ext cx="9609666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Garamond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1"/>
          <p:cNvSpPr/>
          <p:nvPr>
            <p:ph idx="2" type="pic"/>
          </p:nvPr>
        </p:nvSpPr>
        <p:spPr>
          <a:xfrm>
            <a:off x="1041427" y="1041399"/>
            <a:ext cx="10105972" cy="3335869"/>
          </a:xfrm>
          <a:prstGeom prst="roundRect">
            <a:avLst>
              <a:gd fmla="val 0" name="adj"/>
            </a:avLst>
          </a:prstGeom>
          <a:noFill/>
          <a:ln cap="flat" cmpd="thickThin" w="57150">
            <a:solidFill>
              <a:srgbClr val="7F7F7F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92" name="Google Shape;92;p11"/>
          <p:cNvSpPr txBox="1"/>
          <p:nvPr>
            <p:ph idx="1" type="body"/>
          </p:nvPr>
        </p:nvSpPr>
        <p:spPr>
          <a:xfrm>
            <a:off x="1295401" y="5382153"/>
            <a:ext cx="9609666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61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/>
        </p:txBody>
      </p:sp>
      <p:sp>
        <p:nvSpPr>
          <p:cNvPr id="93" name="Google Shape;93;p11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1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/>
          <p:nvPr>
            <p:ph type="title"/>
          </p:nvPr>
        </p:nvSpPr>
        <p:spPr>
          <a:xfrm>
            <a:off x="1303868" y="982132"/>
            <a:ext cx="9592732" cy="29548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Garamond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2"/>
          <p:cNvSpPr txBox="1"/>
          <p:nvPr>
            <p:ph idx="1" type="body"/>
          </p:nvPr>
        </p:nvSpPr>
        <p:spPr>
          <a:xfrm>
            <a:off x="1303868" y="4343399"/>
            <a:ext cx="9592732" cy="15324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9" name="Google Shape;99;p12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2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2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2" name="Google Shape;102;p12"/>
          <p:cNvCxnSpPr/>
          <p:nvPr/>
        </p:nvCxnSpPr>
        <p:spPr>
          <a:xfrm>
            <a:off x="1396169" y="4140199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3"/>
          <p:cNvSpPr txBox="1"/>
          <p:nvPr>
            <p:ph type="title"/>
          </p:nvPr>
        </p:nvSpPr>
        <p:spPr>
          <a:xfrm>
            <a:off x="1446213" y="982132"/>
            <a:ext cx="9296398" cy="23706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3"/>
          <p:cNvSpPr txBox="1"/>
          <p:nvPr>
            <p:ph idx="1" type="body"/>
          </p:nvPr>
        </p:nvSpPr>
        <p:spPr>
          <a:xfrm>
            <a:off x="1674812" y="3352800"/>
            <a:ext cx="8839202" cy="5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Font typeface="Garamond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00"/>
              <a:buFont typeface="Garamond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Font typeface="Garamond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Font typeface="Garamond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Font typeface="Garamond"/>
              <a:buNone/>
              <a:defRPr/>
            </a:lvl5pPr>
            <a:lvl6pPr indent="-36004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106" name="Google Shape;106;p13"/>
          <p:cNvSpPr txBox="1"/>
          <p:nvPr>
            <p:ph idx="2" type="body"/>
          </p:nvPr>
        </p:nvSpPr>
        <p:spPr>
          <a:xfrm>
            <a:off x="1295401" y="4343399"/>
            <a:ext cx="9609666" cy="15324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7" name="Google Shape;107;p13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3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3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" name="Google Shape;112;p13"/>
          <p:cNvCxnSpPr/>
          <p:nvPr/>
        </p:nvCxnSpPr>
        <p:spPr>
          <a:xfrm>
            <a:off x="1396169" y="4140199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"/>
          <p:cNvSpPr txBox="1"/>
          <p:nvPr>
            <p:ph type="title"/>
          </p:nvPr>
        </p:nvSpPr>
        <p:spPr>
          <a:xfrm>
            <a:off x="1295402" y="3308581"/>
            <a:ext cx="9609668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Garamond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4"/>
          <p:cNvSpPr txBox="1"/>
          <p:nvPr>
            <p:ph idx="1" type="body"/>
          </p:nvPr>
        </p:nvSpPr>
        <p:spPr>
          <a:xfrm>
            <a:off x="1295401" y="4777381"/>
            <a:ext cx="96096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6" name="Google Shape;116;p14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4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4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 txBox="1"/>
          <p:nvPr>
            <p:ph type="title"/>
          </p:nvPr>
        </p:nvSpPr>
        <p:spPr>
          <a:xfrm>
            <a:off x="1446213" y="982132"/>
            <a:ext cx="9296398" cy="22436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5"/>
          <p:cNvSpPr txBox="1"/>
          <p:nvPr>
            <p:ph idx="1" type="body"/>
          </p:nvPr>
        </p:nvSpPr>
        <p:spPr>
          <a:xfrm>
            <a:off x="1295401" y="3639312"/>
            <a:ext cx="9609668" cy="8869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6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2" name="Google Shape;122;p15"/>
          <p:cNvSpPr txBox="1"/>
          <p:nvPr>
            <p:ph idx="2" type="body"/>
          </p:nvPr>
        </p:nvSpPr>
        <p:spPr>
          <a:xfrm>
            <a:off x="1295401" y="4529667"/>
            <a:ext cx="9609668" cy="1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3" name="Google Shape;123;p15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5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5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" name="Google Shape;128;p15"/>
          <p:cNvCxnSpPr/>
          <p:nvPr/>
        </p:nvCxnSpPr>
        <p:spPr>
          <a:xfrm>
            <a:off x="1396169" y="3429000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 txBox="1"/>
          <p:nvPr>
            <p:ph type="title"/>
          </p:nvPr>
        </p:nvSpPr>
        <p:spPr>
          <a:xfrm>
            <a:off x="1295401" y="982132"/>
            <a:ext cx="9609666" cy="22436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6"/>
          <p:cNvSpPr txBox="1"/>
          <p:nvPr>
            <p:ph idx="1" type="body"/>
          </p:nvPr>
        </p:nvSpPr>
        <p:spPr>
          <a:xfrm>
            <a:off x="1295401" y="3630168"/>
            <a:ext cx="9609668" cy="841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20"/>
              <a:buNone/>
              <a:defRPr sz="2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2" name="Google Shape;132;p16"/>
          <p:cNvSpPr txBox="1"/>
          <p:nvPr>
            <p:ph idx="2" type="body"/>
          </p:nvPr>
        </p:nvSpPr>
        <p:spPr>
          <a:xfrm>
            <a:off x="1295400" y="4470399"/>
            <a:ext cx="9609670" cy="14054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6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6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6" name="Google Shape;136;p16"/>
          <p:cNvCxnSpPr/>
          <p:nvPr/>
        </p:nvCxnSpPr>
        <p:spPr>
          <a:xfrm>
            <a:off x="1396169" y="3429000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7"/>
          <p:cNvSpPr txBox="1"/>
          <p:nvPr>
            <p:ph idx="1" type="body"/>
          </p:nvPr>
        </p:nvSpPr>
        <p:spPr>
          <a:xfrm rot="5400000">
            <a:off x="4436531" y="-584198"/>
            <a:ext cx="3318936" cy="9601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140" name="Google Shape;140;p17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7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7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43" name="Google Shape;143;p17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/>
          <p:nvPr>
            <p:ph type="title"/>
          </p:nvPr>
        </p:nvSpPr>
        <p:spPr>
          <a:xfrm rot="5400000">
            <a:off x="7497936" y="2483551"/>
            <a:ext cx="4893735" cy="1890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18"/>
          <p:cNvSpPr txBox="1"/>
          <p:nvPr>
            <p:ph idx="1" type="body"/>
          </p:nvPr>
        </p:nvSpPr>
        <p:spPr>
          <a:xfrm rot="5400000">
            <a:off x="2565043" y="-287514"/>
            <a:ext cx="4893734" cy="7433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147" name="Google Shape;147;p18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8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8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0" name="Google Shape;150;p18"/>
          <p:cNvCxnSpPr/>
          <p:nvPr/>
        </p:nvCxnSpPr>
        <p:spPr>
          <a:xfrm>
            <a:off x="8863890" y="990600"/>
            <a:ext cx="0" cy="487680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21" Type="http://schemas.openxmlformats.org/officeDocument/2006/relationships/theme" Target="../theme/theme2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3.jpg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7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6.xml"/><Relationship Id="rId6" Type="http://schemas.openxmlformats.org/officeDocument/2006/relationships/slideLayout" Target="../slideLayouts/slideLayout3.xml"/><Relationship Id="rId18" Type="http://schemas.openxmlformats.org/officeDocument/2006/relationships/slideLayout" Target="../slideLayouts/slideLayout15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descr="HD-PanelContent.png" id="11" name="Google Shape;11;p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2;p1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cap="flat" cmpd="sng" w="15875">
              <a:solidFill>
                <a:schemeClr val="accent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HDRibbonContent-UniformTrim.png" id="13" name="Google Shape;13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DRibbonContent-UniformTrim.png" id="14" name="Google Shape;14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" name="Google Shape;15;p1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b="0" i="0" sz="4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1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386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760"/>
              <a:buFont typeface="Arial"/>
              <a:buChar char="•"/>
              <a:defRPr b="0" i="0" sz="2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-37465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Char char="•"/>
              <a:defRPr b="0" i="0" sz="20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-360045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70"/>
              <a:buFont typeface="Arial"/>
              <a:buChar char="•"/>
              <a:defRPr b="0" i="0" sz="18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-34544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-330835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-330835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-330835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-330835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-330835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61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7" name="Google Shape;17;p1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8" name="Google Shape;18;p1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9" name="Google Shape;19;p1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  <p:sldLayoutId id="2147483661" r:id="rId17"/>
    <p:sldLayoutId id="2147483662" r:id="rId18"/>
    <p:sldLayoutId id="2147483663" r:id="rId19"/>
    <p:sldLayoutId id="2147483664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0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image" Target="../media/image8.png"/><Relationship Id="rId7" Type="http://schemas.openxmlformats.org/officeDocument/2006/relationships/image" Target="../media/image11.png"/><Relationship Id="rId8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1.png"/><Relationship Id="rId5" Type="http://schemas.openxmlformats.org/officeDocument/2006/relationships/image" Target="../media/image3.jpg"/><Relationship Id="rId6" Type="http://schemas.openxmlformats.org/officeDocument/2006/relationships/image" Target="../media/image15.png"/><Relationship Id="rId7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9"/>
          <p:cNvGrpSpPr/>
          <p:nvPr/>
        </p:nvGrpSpPr>
        <p:grpSpPr>
          <a:xfrm>
            <a:off x="-11" y="888"/>
            <a:ext cx="12229962" cy="6856215"/>
            <a:chOff x="-15736" y="0"/>
            <a:chExt cx="12229962" cy="6856215"/>
          </a:xfrm>
        </p:grpSpPr>
        <p:pic>
          <p:nvPicPr>
            <p:cNvPr id="156" name="Google Shape;156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12188827" cy="68562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" name="Google Shape;157;p19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cap="flat" cmpd="sng" w="15875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pic>
          <p:nvPicPr>
            <p:cNvPr id="158" name="Google Shape;158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60" name="Google Shape;160;p19"/>
          <p:cNvCxnSpPr/>
          <p:nvPr/>
        </p:nvCxnSpPr>
        <p:spPr>
          <a:xfrm>
            <a:off x="1411894" y="2422354"/>
            <a:ext cx="94074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19"/>
          <p:cNvSpPr txBox="1"/>
          <p:nvPr>
            <p:ph idx="1" type="subTitle"/>
          </p:nvPr>
        </p:nvSpPr>
        <p:spPr>
          <a:xfrm>
            <a:off x="1311127" y="2557820"/>
            <a:ext cx="6256800" cy="3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2415"/>
              <a:buNone/>
            </a:pPr>
            <a:r>
              <a:rPr b="1" lang="en-US">
                <a:solidFill>
                  <a:srgbClr val="262626"/>
                </a:solidFill>
              </a:rPr>
              <a:t>Дипломант</a:t>
            </a:r>
            <a:r>
              <a:rPr b="0" i="0" lang="en-US" u="none" strike="noStrike">
                <a:solidFill>
                  <a:srgbClr val="262626"/>
                </a:solidFill>
              </a:rPr>
              <a:t>: Васил Паскалев Ганев</a:t>
            </a:r>
            <a:endParaRPr b="0" i="0" u="none" strike="noStrike">
              <a:solidFill>
                <a:srgbClr val="262626"/>
              </a:solidFill>
            </a:endParaRPr>
          </a:p>
          <a:p>
            <a:pPr indent="0" lvl="0" marL="0" marR="0" rtl="0" algn="l">
              <a:spcBef>
                <a:spcPts val="1020"/>
              </a:spcBef>
              <a:spcAft>
                <a:spcPts val="0"/>
              </a:spcAft>
              <a:buSzPts val="2415"/>
              <a:buNone/>
            </a:pPr>
            <a:r>
              <a:rPr b="1" lang="en-US">
                <a:solidFill>
                  <a:srgbClr val="262626"/>
                </a:solidFill>
              </a:rPr>
              <a:t>Факултетен номер: </a:t>
            </a:r>
            <a:r>
              <a:rPr lang="en-US">
                <a:solidFill>
                  <a:srgbClr val="262626"/>
                </a:solidFill>
              </a:rPr>
              <a:t>791325006</a:t>
            </a:r>
            <a:endParaRPr/>
          </a:p>
          <a:p>
            <a:pPr indent="0" lvl="0" marL="0" marR="0" rtl="0" algn="l">
              <a:spcBef>
                <a:spcPts val="1020"/>
              </a:spcBef>
              <a:spcAft>
                <a:spcPts val="0"/>
              </a:spcAft>
              <a:buSzPts val="2415"/>
              <a:buNone/>
            </a:pPr>
            <a:r>
              <a:rPr b="1" lang="en-US"/>
              <a:t>Научен  р</a:t>
            </a:r>
            <a:r>
              <a:rPr b="1" i="0" lang="en-US" u="none" strike="noStrike">
                <a:solidFill>
                  <a:srgbClr val="262626"/>
                </a:solidFill>
              </a:rPr>
              <a:t>ъководител</a:t>
            </a:r>
            <a:r>
              <a:rPr b="0" i="0" lang="en-US" u="none" strike="noStrike">
                <a:solidFill>
                  <a:srgbClr val="262626"/>
                </a:solidFill>
              </a:rPr>
              <a:t>: доц. д-р Златко Захариев</a:t>
            </a:r>
            <a:endParaRPr>
              <a:solidFill>
                <a:srgbClr val="262626"/>
              </a:solidFill>
            </a:endParaRPr>
          </a:p>
          <a:p>
            <a:pPr indent="0" lvl="0" marL="0" marR="0" rtl="0" algn="l">
              <a:spcBef>
                <a:spcPts val="1020"/>
              </a:spcBef>
              <a:spcAft>
                <a:spcPts val="0"/>
              </a:spcAft>
              <a:buSzPts val="2415"/>
              <a:buNone/>
            </a:pPr>
            <a:r>
              <a:rPr b="1" lang="en-US"/>
              <a:t>Специалност</a:t>
            </a:r>
            <a:r>
              <a:rPr lang="en-US"/>
              <a:t>: Информатика и софтуерни науки </a:t>
            </a:r>
            <a:r>
              <a:rPr b="1" lang="en-US"/>
              <a:t>ОКС</a:t>
            </a:r>
            <a:r>
              <a:rPr lang="en-US"/>
              <a:t>: Магистър</a:t>
            </a:r>
            <a:endParaRPr/>
          </a:p>
        </p:txBody>
      </p:sp>
      <p:pic>
        <p:nvPicPr>
          <p:cNvPr descr="A close-up of a network&#10;&#10;AI-generated content may be incorrect." id="162" name="Google Shape;162;p19"/>
          <p:cNvPicPr preferRelativeResize="0"/>
          <p:nvPr/>
        </p:nvPicPr>
        <p:blipFill rotWithShape="1">
          <a:blip r:embed="rId6">
            <a:alphaModFix/>
          </a:blip>
          <a:srcRect b="10" l="23164" r="8" t="0"/>
          <a:stretch/>
        </p:blipFill>
        <p:spPr>
          <a:xfrm>
            <a:off x="8100751" y="2702068"/>
            <a:ext cx="2739727" cy="2852638"/>
          </a:xfrm>
          <a:prstGeom prst="rect">
            <a:avLst/>
          </a:prstGeom>
          <a:noFill/>
          <a:ln cap="flat" cmpd="thickThin" w="571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163" name="Google Shape;163;p19"/>
          <p:cNvSpPr txBox="1"/>
          <p:nvPr>
            <p:ph type="ctrTitle"/>
          </p:nvPr>
        </p:nvSpPr>
        <p:spPr>
          <a:xfrm>
            <a:off x="1411902" y="983045"/>
            <a:ext cx="9601200" cy="130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aramond"/>
              <a:buNone/>
            </a:pPr>
            <a:r>
              <a:rPr b="1" lang="en-US" sz="2800"/>
              <a:t>Интелигентна платформа за подготовка и симулация на интервю за работа - prepAIred </a:t>
            </a:r>
            <a:endParaRPr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 txBox="1"/>
          <p:nvPr>
            <p:ph type="title"/>
          </p:nvPr>
        </p:nvSpPr>
        <p:spPr>
          <a:xfrm>
            <a:off x="3009083" y="931833"/>
            <a:ext cx="62637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b="1" lang="en-US" sz="5300"/>
              <a:t>Въведение</a:t>
            </a:r>
            <a:endParaRPr b="1" sz="6900"/>
          </a:p>
        </p:txBody>
      </p:sp>
      <p:sp>
        <p:nvSpPr>
          <p:cNvPr id="169" name="Google Shape;169;p20"/>
          <p:cNvSpPr txBox="1"/>
          <p:nvPr>
            <p:ph idx="1" type="body"/>
          </p:nvPr>
        </p:nvSpPr>
        <p:spPr>
          <a:xfrm>
            <a:off x="893722" y="2588825"/>
            <a:ext cx="9954600" cy="37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5"/>
              <a:buNone/>
            </a:pPr>
            <a:r>
              <a:rPr b="1" lang="en-US" sz="2000">
                <a:latin typeface="Garamond"/>
                <a:ea typeface="Garamond"/>
                <a:cs typeface="Garamond"/>
                <a:sym typeface="Garamond"/>
              </a:rPr>
              <a:t>Защо създадох prepAIred?</a:t>
            </a:r>
            <a:endParaRPr sz="2900"/>
          </a:p>
          <a:p>
            <a:pPr indent="0" lvl="0" marL="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None/>
            </a:pPr>
            <a:r>
              <a:rPr b="0" lang="en-US" sz="1900">
                <a:latin typeface="Garamond"/>
                <a:ea typeface="Garamond"/>
                <a:cs typeface="Garamond"/>
                <a:sym typeface="Garamond"/>
              </a:rPr>
              <a:t>Подготовката за интервю за работа често е стресираща и липсва реалистична практика с персонализирана обратна връзка.</a:t>
            </a:r>
            <a:endParaRPr sz="2800"/>
          </a:p>
          <a:p>
            <a:pPr indent="-228600" lvl="0" marL="45720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SzPts val="2671"/>
              <a:buNone/>
            </a:pPr>
            <a:r>
              <a:t/>
            </a:r>
            <a:endParaRPr b="0" sz="1500"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None/>
            </a:pPr>
            <a:r>
              <a:rPr b="1" lang="en-US" sz="2000">
                <a:latin typeface="Garamond"/>
                <a:ea typeface="Garamond"/>
                <a:cs typeface="Garamond"/>
                <a:sym typeface="Garamond"/>
              </a:rPr>
              <a:t>Какво е prepAIred?</a:t>
            </a:r>
            <a:endParaRPr sz="2900"/>
          </a:p>
          <a:p>
            <a:pPr indent="0" lvl="0" marL="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None/>
            </a:pPr>
            <a:r>
              <a:rPr b="0" lang="en-US" sz="2300">
                <a:latin typeface="Garamond"/>
                <a:ea typeface="Garamond"/>
                <a:cs typeface="Garamond"/>
                <a:sym typeface="Garamond"/>
              </a:rPr>
              <a:t>Уеб базирана платформа с изкуствен интелект за персонализирани HR и технически интервюта.</a:t>
            </a:r>
            <a:endParaRPr sz="3200"/>
          </a:p>
          <a:p>
            <a:pPr indent="0" lvl="0" marL="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None/>
            </a:pPr>
            <a:r>
              <a:rPr b="0" lang="en-US" sz="2300">
                <a:latin typeface="Garamond"/>
                <a:ea typeface="Garamond"/>
                <a:cs typeface="Garamond"/>
                <a:sym typeface="Garamond"/>
              </a:rPr>
              <a:t>AI генерирани въпроси, анализ на отговорите и гласов интервюиращ в реално време.</a:t>
            </a:r>
            <a:endParaRPr sz="3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1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b="1" lang="en-US" sz="5000"/>
              <a:t>Цел и целева аудитория</a:t>
            </a:r>
            <a:endParaRPr b="1" sz="5000"/>
          </a:p>
        </p:txBody>
      </p:sp>
      <p:sp>
        <p:nvSpPr>
          <p:cNvPr id="175" name="Google Shape;175;p21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60"/>
              <a:buNone/>
            </a:pPr>
            <a:r>
              <a:rPr b="0" lang="en-US" sz="2000">
                <a:latin typeface="Garamond"/>
                <a:ea typeface="Garamond"/>
                <a:cs typeface="Garamond"/>
                <a:sym typeface="Garamond"/>
              </a:rPr>
              <a:t>Целта на prepAIred е да предостави достъпна и интелигентна среда за подготовка за интервю чрез реалистични симулации, персонализация и AI обратна връзка.</a:t>
            </a:r>
            <a:endParaRPr sz="2000"/>
          </a:p>
          <a:p>
            <a:pPr indent="-228600" lvl="0" marL="45720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SzPts val="207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None/>
            </a:pPr>
            <a:r>
              <a:rPr b="1" lang="en-US" sz="2500">
                <a:latin typeface="Garamond"/>
                <a:ea typeface="Garamond"/>
                <a:cs typeface="Garamond"/>
                <a:sym typeface="Garamond"/>
              </a:rPr>
              <a:t>Целева аудитория:</a:t>
            </a:r>
            <a:endParaRPr sz="2500"/>
          </a:p>
          <a:p>
            <a:pPr indent="-355600" lvl="0" marL="45720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SzPts val="2000"/>
              <a:buChar char="•"/>
            </a:pPr>
            <a:r>
              <a:rPr b="0" lang="en-US" sz="2000">
                <a:latin typeface="Garamond"/>
                <a:ea typeface="Garamond"/>
                <a:cs typeface="Garamond"/>
                <a:sym typeface="Garamond"/>
              </a:rPr>
              <a:t>Студенти и начинаещи кандидати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SzPts val="2000"/>
              <a:buChar char="•"/>
            </a:pPr>
            <a:r>
              <a:rPr b="0" lang="en-US" sz="2000">
                <a:latin typeface="Garamond"/>
                <a:ea typeface="Garamond"/>
                <a:cs typeface="Garamond"/>
                <a:sym typeface="Garamond"/>
              </a:rPr>
              <a:t>Софтуерни инженери и специалисти с различен професионален опит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SzPts val="2000"/>
              <a:buChar char="•"/>
            </a:pPr>
            <a:r>
              <a:rPr b="0" lang="en-US" sz="2000">
                <a:latin typeface="Garamond"/>
                <a:ea typeface="Garamond"/>
                <a:cs typeface="Garamond"/>
                <a:sym typeface="Garamond"/>
              </a:rPr>
              <a:t>Кандидати, които сменят своята кариерна насока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"/>
          <p:cNvSpPr txBox="1"/>
          <p:nvPr>
            <p:ph type="title"/>
          </p:nvPr>
        </p:nvSpPr>
        <p:spPr>
          <a:xfrm>
            <a:off x="593725" y="1057783"/>
            <a:ext cx="11004600" cy="11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rgbClr val="262626"/>
              </a:buClr>
              <a:buSzPts val="2800"/>
              <a:buFont typeface="Garamond"/>
              <a:buNone/>
            </a:pPr>
            <a:r>
              <a:rPr b="0" lang="en-US" sz="5000">
                <a:latin typeface="Garamond"/>
                <a:ea typeface="Garamond"/>
                <a:cs typeface="Garamond"/>
                <a:sym typeface="Garamond"/>
              </a:rPr>
              <a:t>Предимства на prepAIred спрямо подобни продукти</a:t>
            </a:r>
            <a:endParaRPr sz="5000"/>
          </a:p>
        </p:txBody>
      </p:sp>
      <p:graphicFrame>
        <p:nvGraphicFramePr>
          <p:cNvPr id="181" name="Google Shape;181;p22"/>
          <p:cNvGraphicFramePr/>
          <p:nvPr/>
        </p:nvGraphicFramePr>
        <p:xfrm>
          <a:off x="787398" y="2706625"/>
          <a:ext cx="3000000" cy="3000000"/>
        </p:xfrm>
        <a:graphic>
          <a:graphicData uri="http://schemas.openxmlformats.org/drawingml/2006/table">
            <a:tbl>
              <a:tblPr bandRow="1" firstCol="1" firstRow="1">
                <a:gradFill>
                  <a:gsLst>
                    <a:gs pos="0">
                      <a:srgbClr val="DBC4C2"/>
                    </a:gs>
                    <a:gs pos="100000">
                      <a:srgbClr val="B77F7C"/>
                    </a:gs>
                  </a:gsLst>
                  <a:lin ang="5400000" scaled="0"/>
                </a:gradFill>
                <a:tableStyleId>{C81660B4-5E7C-4B2E-9180-761F5340445E}</a:tableStyleId>
              </a:tblPr>
              <a:tblGrid>
                <a:gridCol w="2356575"/>
                <a:gridCol w="1478825"/>
                <a:gridCol w="1612900"/>
                <a:gridCol w="1371600"/>
                <a:gridCol w="3797300"/>
              </a:tblGrid>
              <a:tr h="603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Продукт</a:t>
                      </a:r>
                      <a:endParaRPr sz="2000"/>
                    </a:p>
                  </a:txBody>
                  <a:tcPr marT="73500" marB="73500" marR="147000" marL="147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prepAIred</a:t>
                      </a:r>
                      <a:endParaRPr sz="2000"/>
                    </a:p>
                  </a:txBody>
                  <a:tcPr marT="73500" marB="73500" marR="147000" marL="147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LeetCode</a:t>
                      </a:r>
                      <a:endParaRPr sz="2000"/>
                    </a:p>
                  </a:txBody>
                  <a:tcPr marT="73500" marB="73500" marR="147000" marL="147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Pramp</a:t>
                      </a:r>
                      <a:endParaRPr sz="2000"/>
                    </a:p>
                  </a:txBody>
                  <a:tcPr marT="73500" marB="73500" marR="147000" marL="147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Interviewing.io</a:t>
                      </a:r>
                      <a:endParaRPr sz="2000"/>
                    </a:p>
                  </a:txBody>
                  <a:tcPr marT="73500" marB="73500" marR="147000" marL="147000" anchor="ctr"/>
                </a:tc>
              </a:tr>
              <a:tr h="603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AI генерирани въпроси</a:t>
                      </a:r>
                      <a:endParaRPr sz="2000"/>
                    </a:p>
                  </a:txBody>
                  <a:tcPr marT="73500" marB="73500" marR="147000" marL="147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✅</a:t>
                      </a:r>
                      <a:endParaRPr sz="2000"/>
                    </a:p>
                  </a:txBody>
                  <a:tcPr marT="73500" marB="73500" marR="147000" marL="147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❌</a:t>
                      </a:r>
                      <a:endParaRPr sz="2000"/>
                    </a:p>
                  </a:txBody>
                  <a:tcPr marT="73500" marB="73500" marR="147000" marL="147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❌</a:t>
                      </a:r>
                      <a:endParaRPr sz="2000"/>
                    </a:p>
                  </a:txBody>
                  <a:tcPr marT="73500" marB="73500" marR="147000" marL="147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❌</a:t>
                      </a:r>
                      <a:endParaRPr sz="2000"/>
                    </a:p>
                  </a:txBody>
                  <a:tcPr marT="73500" marB="73500" marR="147000" marL="147000" anchor="ctr"/>
                </a:tc>
              </a:tr>
              <a:tr h="603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Гласов AI интервюиращ</a:t>
                      </a:r>
                      <a:endParaRPr sz="2000"/>
                    </a:p>
                  </a:txBody>
                  <a:tcPr marT="73500" marB="73500" marR="147000" marL="147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✅</a:t>
                      </a:r>
                      <a:endParaRPr sz="2000"/>
                    </a:p>
                  </a:txBody>
                  <a:tcPr marT="73500" marB="73500" marR="147000" marL="147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❌</a:t>
                      </a:r>
                      <a:endParaRPr sz="2000"/>
                    </a:p>
                  </a:txBody>
                  <a:tcPr marT="73500" marB="73500" marR="147000" marL="147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❌</a:t>
                      </a:r>
                      <a:endParaRPr sz="2000"/>
                    </a:p>
                  </a:txBody>
                  <a:tcPr marT="73500" marB="73500" marR="147000" marL="147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❌</a:t>
                      </a:r>
                      <a:endParaRPr sz="2000"/>
                    </a:p>
                  </a:txBody>
                  <a:tcPr marT="73500" marB="73500" marR="147000" marL="147000" anchor="ctr"/>
                </a:tc>
              </a:tr>
              <a:tr h="603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Основен подход</a:t>
                      </a:r>
                      <a:endParaRPr sz="2000"/>
                    </a:p>
                  </a:txBody>
                  <a:tcPr marT="73500" marB="73500" marR="147000" marL="147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AI симулация</a:t>
                      </a:r>
                      <a:endParaRPr sz="2000"/>
                    </a:p>
                  </a:txBody>
                  <a:tcPr marT="73500" marB="73500" marR="147000" marL="147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Задачи</a:t>
                      </a:r>
                      <a:endParaRPr sz="2000"/>
                    </a:p>
                  </a:txBody>
                  <a:tcPr marT="73500" marB="73500" marR="147000" marL="147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Peer интервю</a:t>
                      </a:r>
                      <a:endParaRPr sz="2000"/>
                    </a:p>
                  </a:txBody>
                  <a:tcPr marT="73500" marB="73500" marR="147000" marL="147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Инженер интервю</a:t>
                      </a:r>
                      <a:endParaRPr sz="2000"/>
                    </a:p>
                  </a:txBody>
                  <a:tcPr marT="73500" marB="73500" marR="147000" marL="147000" anchor="ctr"/>
                </a:tc>
              </a:tr>
              <a:tr h="603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Адаптивно интервю</a:t>
                      </a:r>
                      <a:endParaRPr sz="2000"/>
                    </a:p>
                  </a:txBody>
                  <a:tcPr marT="73500" marB="73500" marR="147000" marL="147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✅</a:t>
                      </a:r>
                      <a:endParaRPr sz="2000"/>
                    </a:p>
                  </a:txBody>
                  <a:tcPr marT="73500" marB="73500" marR="147000" marL="147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❌</a:t>
                      </a:r>
                      <a:endParaRPr sz="2000"/>
                    </a:p>
                  </a:txBody>
                  <a:tcPr marT="73500" marB="73500" marR="147000" marL="147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❌</a:t>
                      </a:r>
                      <a:endParaRPr sz="2000"/>
                    </a:p>
                  </a:txBody>
                  <a:tcPr marT="73500" marB="73500" marR="147000" marL="147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❌</a:t>
                      </a:r>
                      <a:endParaRPr sz="2000"/>
                    </a:p>
                  </a:txBody>
                  <a:tcPr marT="73500" marB="73500" marR="147000" marL="1470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3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b="0" lang="en-US" sz="5000">
                <a:latin typeface="Garamond"/>
                <a:ea typeface="Garamond"/>
                <a:cs typeface="Garamond"/>
                <a:sym typeface="Garamond"/>
              </a:rPr>
              <a:t>Технологии и среди</a:t>
            </a:r>
            <a:endParaRPr sz="5000"/>
          </a:p>
        </p:txBody>
      </p:sp>
      <p:sp>
        <p:nvSpPr>
          <p:cNvPr id="187" name="Google Shape;187;p23"/>
          <p:cNvSpPr txBox="1"/>
          <p:nvPr>
            <p:ph idx="1" type="body"/>
          </p:nvPr>
        </p:nvSpPr>
        <p:spPr>
          <a:xfrm>
            <a:off x="906200" y="2556925"/>
            <a:ext cx="9990300" cy="3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346"/>
              <a:buNone/>
            </a:pPr>
            <a:r>
              <a:rPr b="0" lang="en-US" sz="2005">
                <a:latin typeface="Garamond"/>
                <a:ea typeface="Garamond"/>
                <a:cs typeface="Garamond"/>
                <a:sym typeface="Garamond"/>
              </a:rPr>
              <a:t>Следните технологии са използвани за създаването на prepAIred:</a:t>
            </a:r>
            <a:endParaRPr sz="2940"/>
          </a:p>
          <a:p>
            <a:pPr indent="0" lvl="0" marL="0" rtl="0" algn="l">
              <a:lnSpc>
                <a:spcPct val="80000"/>
              </a:lnSpc>
              <a:spcBef>
                <a:spcPts val="86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="1" sz="2005"/>
          </a:p>
          <a:p>
            <a:pPr indent="0" lvl="0" marL="0" rtl="0" algn="l">
              <a:lnSpc>
                <a:spcPct val="80000"/>
              </a:lnSpc>
              <a:spcBef>
                <a:spcPts val="860"/>
              </a:spcBef>
              <a:spcAft>
                <a:spcPts val="0"/>
              </a:spcAft>
              <a:buSzPts val="935"/>
              <a:buNone/>
            </a:pPr>
            <a:r>
              <a:rPr b="1" lang="en-US" sz="2005">
                <a:latin typeface="Garamond"/>
                <a:ea typeface="Garamond"/>
                <a:cs typeface="Garamond"/>
                <a:sym typeface="Garamond"/>
              </a:rPr>
              <a:t>Сървърна част</a:t>
            </a:r>
            <a:r>
              <a:rPr b="1" lang="en-US" sz="2005"/>
              <a:t> - </a:t>
            </a:r>
            <a:r>
              <a:rPr b="0" lang="en-US" sz="2005">
                <a:latin typeface="Garamond"/>
                <a:ea typeface="Garamond"/>
                <a:cs typeface="Garamond"/>
                <a:sym typeface="Garamond"/>
              </a:rPr>
              <a:t>.NET Core Web API, C#, Entity Framework Core, JWT, Postman</a:t>
            </a:r>
            <a:endParaRPr sz="2940"/>
          </a:p>
          <a:p>
            <a:pPr indent="0" lvl="0" marL="0" rtl="0" algn="l">
              <a:lnSpc>
                <a:spcPct val="80000"/>
              </a:lnSpc>
              <a:spcBef>
                <a:spcPts val="860"/>
              </a:spcBef>
              <a:spcAft>
                <a:spcPts val="0"/>
              </a:spcAft>
              <a:buNone/>
            </a:pPr>
            <a:r>
              <a:rPr b="1" lang="en-US" sz="2005">
                <a:latin typeface="Garamond"/>
                <a:ea typeface="Garamond"/>
                <a:cs typeface="Garamond"/>
                <a:sym typeface="Garamond"/>
              </a:rPr>
              <a:t>Клиентска част</a:t>
            </a:r>
            <a:r>
              <a:rPr b="1" lang="en-US" sz="2005"/>
              <a:t> - </a:t>
            </a:r>
            <a:r>
              <a:rPr b="0" lang="en-US" sz="2005">
                <a:latin typeface="Garamond"/>
                <a:ea typeface="Garamond"/>
                <a:cs typeface="Garamond"/>
                <a:sym typeface="Garamond"/>
              </a:rPr>
              <a:t>Vite, TypeScript, React, React Router DOM, TanStack Query, Axios, KendoReact, Tailwind</a:t>
            </a:r>
            <a:endParaRPr b="1" sz="2005"/>
          </a:p>
          <a:p>
            <a:pPr indent="0" lvl="0" marL="0" rtl="0" algn="l">
              <a:lnSpc>
                <a:spcPct val="80000"/>
              </a:lnSpc>
              <a:spcBef>
                <a:spcPts val="860"/>
              </a:spcBef>
              <a:spcAft>
                <a:spcPts val="0"/>
              </a:spcAft>
              <a:buSzPts val="935"/>
              <a:buNone/>
            </a:pPr>
            <a:r>
              <a:rPr b="1" lang="en-US" sz="2005">
                <a:latin typeface="Garamond"/>
                <a:ea typeface="Garamond"/>
                <a:cs typeface="Garamond"/>
                <a:sym typeface="Garamond"/>
              </a:rPr>
              <a:t>AI и глас</a:t>
            </a:r>
            <a:r>
              <a:rPr b="1" lang="en-US" sz="2005"/>
              <a:t> - </a:t>
            </a:r>
            <a:r>
              <a:rPr b="0" lang="en-US" sz="2005">
                <a:latin typeface="Garamond"/>
                <a:ea typeface="Garamond"/>
                <a:cs typeface="Garamond"/>
                <a:sym typeface="Garamond"/>
              </a:rPr>
              <a:t>OpenAI, Google Gemini, Claude, ElevenLabs</a:t>
            </a:r>
            <a:endParaRPr b="1" sz="2005"/>
          </a:p>
          <a:p>
            <a:pPr indent="0" lvl="0" marL="0" rtl="0" algn="l">
              <a:lnSpc>
                <a:spcPct val="80000"/>
              </a:lnSpc>
              <a:spcBef>
                <a:spcPts val="860"/>
              </a:spcBef>
              <a:spcAft>
                <a:spcPts val="0"/>
              </a:spcAft>
              <a:buSzPts val="935"/>
              <a:buNone/>
            </a:pPr>
            <a:r>
              <a:rPr b="1" lang="en-US" sz="2005">
                <a:latin typeface="Garamond"/>
                <a:ea typeface="Garamond"/>
                <a:cs typeface="Garamond"/>
                <a:sym typeface="Garamond"/>
              </a:rPr>
              <a:t>База данни и среди</a:t>
            </a:r>
            <a:r>
              <a:rPr b="1" lang="en-US" sz="2005"/>
              <a:t> -</a:t>
            </a:r>
            <a:r>
              <a:rPr lang="en-US" sz="2940"/>
              <a:t> </a:t>
            </a:r>
            <a:r>
              <a:rPr b="0" lang="en-US" sz="2005">
                <a:latin typeface="Garamond"/>
                <a:ea typeface="Garamond"/>
                <a:cs typeface="Garamond"/>
                <a:sym typeface="Garamond"/>
              </a:rPr>
              <a:t>SQL Server, Visual Studio, Visual Studio Code, SSMS</a:t>
            </a:r>
            <a:endParaRPr sz="2940"/>
          </a:p>
        </p:txBody>
      </p:sp>
      <p:pic>
        <p:nvPicPr>
          <p:cNvPr id="188" name="Google Shape;18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44313" y="-260687"/>
            <a:ext cx="1784040" cy="1784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React Logo in SVG Vector or PNG File Format - Logo.wine" id="189" name="Google Shape;18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5890" y="1363330"/>
            <a:ext cx="3263477" cy="2175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862301">
            <a:off x="10685258" y="558150"/>
            <a:ext cx="1486191" cy="909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penai&quot; Icon - Download for free – Iconduck" id="191" name="Google Shape;19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980127" y="1458211"/>
            <a:ext cx="1211872" cy="12280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endo React Snippets - Visual Studio Marketplace" id="192" name="Google Shape;192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11658" y="384048"/>
            <a:ext cx="1405970" cy="1422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825161" y="982125"/>
            <a:ext cx="1422355" cy="1422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863700" y="-79851"/>
            <a:ext cx="1422374" cy="1422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432450" y="1845212"/>
            <a:ext cx="1211875" cy="121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b="0" lang="en-US" sz="5000">
                <a:latin typeface="Garamond"/>
                <a:ea typeface="Garamond"/>
                <a:cs typeface="Garamond"/>
                <a:sym typeface="Garamond"/>
              </a:rPr>
              <a:t>Основни функционалности</a:t>
            </a:r>
            <a:endParaRPr sz="5000"/>
          </a:p>
        </p:txBody>
      </p:sp>
      <p:sp>
        <p:nvSpPr>
          <p:cNvPr id="201" name="Google Shape;201;p24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latin typeface="Garamond"/>
                <a:ea typeface="Garamond"/>
                <a:cs typeface="Garamond"/>
                <a:sym typeface="Garamond"/>
              </a:rPr>
              <a:t>Приложението позволява:</a:t>
            </a:r>
            <a:endParaRPr/>
          </a:p>
          <a:p>
            <a:pPr indent="-360045" lvl="0" marL="45720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SzPts val="2070"/>
              <a:buFont typeface="Garamond"/>
              <a:buChar char="•"/>
            </a:pPr>
            <a:r>
              <a:rPr b="0" lang="en-US">
                <a:latin typeface="Garamond"/>
                <a:ea typeface="Garamond"/>
                <a:cs typeface="Garamond"/>
                <a:sym typeface="Garamond"/>
              </a:rPr>
              <a:t>Създаване и управление на потребителски профил</a:t>
            </a:r>
            <a:endParaRPr/>
          </a:p>
          <a:p>
            <a:pPr indent="-36004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70"/>
              <a:buFont typeface="Garamond"/>
              <a:buChar char="•"/>
            </a:pPr>
            <a:r>
              <a:rPr b="0" lang="en-US">
                <a:latin typeface="Garamond"/>
                <a:ea typeface="Garamond"/>
                <a:cs typeface="Garamond"/>
                <a:sym typeface="Garamond"/>
              </a:rPr>
              <a:t>Генериране на HR и технически интервюта според роля, стек, трудност и AI агент</a:t>
            </a:r>
            <a:endParaRPr/>
          </a:p>
          <a:p>
            <a:pPr indent="-36004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70"/>
              <a:buFont typeface="Garamond"/>
              <a:buChar char="•"/>
            </a:pPr>
            <a:r>
              <a:rPr b="0" lang="en-US">
                <a:latin typeface="Garamond"/>
                <a:ea typeface="Garamond"/>
                <a:cs typeface="Garamond"/>
                <a:sym typeface="Garamond"/>
              </a:rPr>
              <a:t>Оценяване на отговорите и генериране на персонализирана обратна връзка</a:t>
            </a:r>
            <a:endParaRPr/>
          </a:p>
          <a:p>
            <a:pPr indent="-36004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70"/>
              <a:buFont typeface="Garamond"/>
              <a:buChar char="•"/>
            </a:pPr>
            <a:r>
              <a:rPr b="0" lang="en-US">
                <a:latin typeface="Garamond"/>
                <a:ea typeface="Garamond"/>
                <a:cs typeface="Garamond"/>
                <a:sym typeface="Garamond"/>
              </a:rPr>
              <a:t>Симулация на интервю с AI гласов интервюиращ в реално време</a:t>
            </a:r>
            <a:endParaRPr/>
          </a:p>
          <a:p>
            <a:pPr indent="-36004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70"/>
              <a:buFont typeface="Garamond"/>
              <a:buChar char="•"/>
            </a:pPr>
            <a:r>
              <a:rPr b="0" lang="en-US">
                <a:latin typeface="Garamond"/>
                <a:ea typeface="Garamond"/>
                <a:cs typeface="Garamond"/>
                <a:sym typeface="Garamond"/>
              </a:rPr>
              <a:t>Проследяване на представянето и напредъка на потребителя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grpSp>
        <p:nvGrpSpPr>
          <p:cNvPr id="208" name="Google Shape;208;p25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209" name="Google Shape;209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0" name="Google Shape;210;p25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cap="flat" cmpd="sng" w="15875">
              <a:solidFill>
                <a:schemeClr val="accent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pic>
          <p:nvPicPr>
            <p:cNvPr id="211" name="Google Shape;211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2" name="Google Shape;212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3" name="Google Shape;213;p25"/>
          <p:cNvSpPr txBox="1"/>
          <p:nvPr>
            <p:ph type="title"/>
          </p:nvPr>
        </p:nvSpPr>
        <p:spPr>
          <a:xfrm>
            <a:off x="831850" y="1123000"/>
            <a:ext cx="10734000" cy="78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62626"/>
              </a:buClr>
              <a:buSzPts val="2800"/>
              <a:buFont typeface="Garamond"/>
              <a:buNone/>
            </a:pPr>
            <a:r>
              <a:rPr b="0" lang="en-US" sz="5000">
                <a:latin typeface="Garamond"/>
                <a:ea typeface="Garamond"/>
                <a:cs typeface="Garamond"/>
                <a:sym typeface="Garamond"/>
              </a:rPr>
              <a:t>Интеграция с AI услуги и LLM модели</a:t>
            </a:r>
            <a:endParaRPr sz="5000">
              <a:solidFill>
                <a:srgbClr val="262626"/>
              </a:solidFill>
            </a:endParaRPr>
          </a:p>
        </p:txBody>
      </p:sp>
      <p:cxnSp>
        <p:nvCxnSpPr>
          <p:cNvPr id="214" name="Google Shape;214;p25"/>
          <p:cNvCxnSpPr/>
          <p:nvPr/>
        </p:nvCxnSpPr>
        <p:spPr>
          <a:xfrm>
            <a:off x="1295401" y="2400639"/>
            <a:ext cx="3660057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p25"/>
          <p:cNvSpPr txBox="1"/>
          <p:nvPr>
            <p:ph idx="1" type="body"/>
          </p:nvPr>
        </p:nvSpPr>
        <p:spPr>
          <a:xfrm>
            <a:off x="831850" y="2493775"/>
            <a:ext cx="5265300" cy="3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80"/>
              <a:buNone/>
            </a:pPr>
            <a:r>
              <a:rPr b="0" lang="en-US" sz="1600">
                <a:latin typeface="Garamond"/>
                <a:ea typeface="Garamond"/>
                <a:cs typeface="Garamond"/>
                <a:sym typeface="Garamond"/>
              </a:rPr>
              <a:t>Основната функционалност на prepAIred се реализира чрез интеграция с външни AI услуги.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Интегрираният AI </a:t>
            </a:r>
            <a:r>
              <a:rPr b="0" lang="en-US" sz="1600">
                <a:latin typeface="Garamond"/>
                <a:ea typeface="Garamond"/>
                <a:cs typeface="Garamond"/>
                <a:sym typeface="Garamond"/>
              </a:rPr>
              <a:t>генерира въпроси и анализират отговорите.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SzPts val="1600"/>
              <a:buChar char="•"/>
            </a:pPr>
            <a:r>
              <a:rPr b="0" lang="en-US" sz="1600">
                <a:latin typeface="Garamond"/>
                <a:ea typeface="Garamond"/>
                <a:cs typeface="Garamond"/>
                <a:sym typeface="Garamond"/>
              </a:rPr>
              <a:t>Абстрактният слой </a:t>
            </a:r>
            <a:r>
              <a:rPr b="1" lang="en-US" sz="1600"/>
              <a:t>AIService </a:t>
            </a:r>
            <a:r>
              <a:rPr b="0" lang="en-US" sz="1600">
                <a:latin typeface="Garamond"/>
                <a:ea typeface="Garamond"/>
                <a:cs typeface="Garamond"/>
                <a:sym typeface="Garamond"/>
              </a:rPr>
              <a:t>позволява подмяна и разширяване на LLM моделите без промяна в бизнес логиката.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860"/>
              </a:spcBef>
              <a:spcAft>
                <a:spcPts val="500"/>
              </a:spcAft>
              <a:buSzPts val="1600"/>
              <a:buChar char="•"/>
            </a:pPr>
            <a:r>
              <a:rPr b="1" lang="en-US" sz="1600"/>
              <a:t>ElevenLabs </a:t>
            </a:r>
            <a:r>
              <a:rPr b="0" lang="en-US" sz="1600">
                <a:latin typeface="Garamond"/>
                <a:ea typeface="Garamond"/>
                <a:cs typeface="Garamond"/>
                <a:sym typeface="Garamond"/>
              </a:rPr>
              <a:t>осигурява естествено звучащ AI гласов интервюиращ и комуникация в реално време.</a:t>
            </a:r>
            <a:endParaRPr sz="1600"/>
          </a:p>
        </p:txBody>
      </p:sp>
      <p:pic>
        <p:nvPicPr>
          <p:cNvPr id="216" name="Google Shape;216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97250" y="1906900"/>
            <a:ext cx="5316550" cy="430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" name="Google Shape;221;p2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222" name="Google Shape;222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3" name="Google Shape;223;p26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cap="flat" cmpd="sng" w="15875">
              <a:solidFill>
                <a:schemeClr val="accent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pic>
          <p:nvPicPr>
            <p:cNvPr id="224" name="Google Shape;224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5" name="Google Shape;225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6" name="Google Shape;226;p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27" name="Google Shape;227;p26"/>
          <p:cNvSpPr/>
          <p:nvPr/>
        </p:nvSpPr>
        <p:spPr>
          <a:xfrm>
            <a:off x="469106" y="511968"/>
            <a:ext cx="11220450" cy="588406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grpSp>
        <p:nvGrpSpPr>
          <p:cNvPr id="228" name="Google Shape;228;p26"/>
          <p:cNvGrpSpPr/>
          <p:nvPr/>
        </p:nvGrpSpPr>
        <p:grpSpPr>
          <a:xfrm>
            <a:off x="0" y="3128956"/>
            <a:ext cx="12234672" cy="658368"/>
            <a:chOff x="-18288" y="3128956"/>
            <a:chExt cx="12234672" cy="658368"/>
          </a:xfrm>
        </p:grpSpPr>
        <p:sp>
          <p:nvSpPr>
            <p:cNvPr id="229" name="Google Shape;229;p26"/>
            <p:cNvSpPr/>
            <p:nvPr/>
          </p:nvSpPr>
          <p:spPr>
            <a:xfrm>
              <a:off x="732303" y="3128956"/>
              <a:ext cx="45720" cy="658368"/>
            </a:xfrm>
            <a:prstGeom prst="roundRect">
              <a:avLst>
                <a:gd fmla="val 50000" name="adj"/>
              </a:avLst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Garamond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pic>
          <p:nvPicPr>
            <p:cNvPr id="230" name="Google Shape;230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18288" y="3154680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1" name="Google Shape;231;p26"/>
            <p:cNvSpPr/>
            <p:nvPr/>
          </p:nvSpPr>
          <p:spPr>
            <a:xfrm>
              <a:off x="11414377" y="3128956"/>
              <a:ext cx="45720" cy="658368"/>
            </a:xfrm>
            <a:prstGeom prst="roundRect">
              <a:avLst>
                <a:gd fmla="val 50000" name="adj"/>
              </a:avLst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Garamond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pic>
          <p:nvPicPr>
            <p:cNvPr id="232" name="Google Shape;232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11439144" y="3154680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image5.png" id="233" name="Google Shape;233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685800"/>
            <a:ext cx="10332720" cy="5394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oogle Shape;238;p27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239" name="Google Shape;239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0" name="Google Shape;240;p27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cap="flat" cmpd="sng" w="15875">
              <a:solidFill>
                <a:schemeClr val="accent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pic>
          <p:nvPicPr>
            <p:cNvPr id="241" name="Google Shape;241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2" name="Google Shape;24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3" name="Google Shape;243;p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272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44" name="Google Shape;244;p27"/>
          <p:cNvSpPr/>
          <p:nvPr/>
        </p:nvSpPr>
        <p:spPr>
          <a:xfrm>
            <a:off x="469106" y="511968"/>
            <a:ext cx="11220450" cy="588406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45" name="Google Shape;245;p27"/>
          <p:cNvSpPr/>
          <p:nvPr/>
        </p:nvSpPr>
        <p:spPr>
          <a:xfrm>
            <a:off x="618744" y="671208"/>
            <a:ext cx="10937716" cy="5551283"/>
          </a:xfrm>
          <a:prstGeom prst="rect">
            <a:avLst/>
          </a:prstGeom>
          <a:noFill/>
          <a:ln cap="flat" cmpd="sng" w="222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grpSp>
        <p:nvGrpSpPr>
          <p:cNvPr id="246" name="Google Shape;246;p27"/>
          <p:cNvGrpSpPr/>
          <p:nvPr/>
        </p:nvGrpSpPr>
        <p:grpSpPr>
          <a:xfrm>
            <a:off x="0" y="3128956"/>
            <a:ext cx="12234672" cy="658368"/>
            <a:chOff x="-18288" y="3128956"/>
            <a:chExt cx="12234672" cy="658368"/>
          </a:xfrm>
        </p:grpSpPr>
        <p:sp>
          <p:nvSpPr>
            <p:cNvPr id="247" name="Google Shape;247;p27"/>
            <p:cNvSpPr/>
            <p:nvPr/>
          </p:nvSpPr>
          <p:spPr>
            <a:xfrm>
              <a:off x="732303" y="3128956"/>
              <a:ext cx="45720" cy="658368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Garamond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pic>
          <p:nvPicPr>
            <p:cNvPr id="248" name="Google Shape;248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18288" y="3154680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" name="Google Shape;249;p27"/>
            <p:cNvSpPr/>
            <p:nvPr/>
          </p:nvSpPr>
          <p:spPr>
            <a:xfrm>
              <a:off x="11414377" y="3128956"/>
              <a:ext cx="45720" cy="658368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Garamond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pic>
          <p:nvPicPr>
            <p:cNvPr id="250" name="Google Shape;25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11439144" y="3154680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1" name="Google Shape;251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38" y="622092"/>
            <a:ext cx="12192000" cy="5649516"/>
          </a:xfrm>
          <a:prstGeom prst="rect">
            <a:avLst/>
          </a:prstGeom>
          <a:noFill/>
          <a:ln cap="flat" cmpd="sng" w="222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" name="Google Shape;256;p28"/>
          <p:cNvGrpSpPr/>
          <p:nvPr/>
        </p:nvGrpSpPr>
        <p:grpSpPr>
          <a:xfrm>
            <a:off x="-15736" y="0"/>
            <a:ext cx="12229962" cy="6856215"/>
            <a:chOff x="-15736" y="0"/>
            <a:chExt cx="12229962" cy="6856215"/>
          </a:xfrm>
        </p:grpSpPr>
        <p:pic>
          <p:nvPicPr>
            <p:cNvPr id="257" name="Google Shape;25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2188827" cy="68562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cap="flat" cmpd="sng" w="15875">
              <a:solidFill>
                <a:schemeClr val="accent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pic>
          <p:nvPicPr>
            <p:cNvPr id="259" name="Google Shape;259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0" name="Google Shape;260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1" name="Google Shape;261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272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62" name="Google Shape;262;p28"/>
          <p:cNvSpPr/>
          <p:nvPr/>
        </p:nvSpPr>
        <p:spPr>
          <a:xfrm>
            <a:off x="469106" y="511968"/>
            <a:ext cx="11220600" cy="588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63" name="Google Shape;263;p28"/>
          <p:cNvSpPr/>
          <p:nvPr/>
        </p:nvSpPr>
        <p:spPr>
          <a:xfrm>
            <a:off x="618744" y="671208"/>
            <a:ext cx="10937700" cy="5551200"/>
          </a:xfrm>
          <a:prstGeom prst="rect">
            <a:avLst/>
          </a:prstGeom>
          <a:noFill/>
          <a:ln cap="flat" cmpd="sng" w="222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grpSp>
        <p:nvGrpSpPr>
          <p:cNvPr id="264" name="Google Shape;264;p28"/>
          <p:cNvGrpSpPr/>
          <p:nvPr/>
        </p:nvGrpSpPr>
        <p:grpSpPr>
          <a:xfrm>
            <a:off x="0" y="3128956"/>
            <a:ext cx="12234672" cy="658500"/>
            <a:chOff x="-18288" y="3128956"/>
            <a:chExt cx="12234672" cy="658500"/>
          </a:xfrm>
        </p:grpSpPr>
        <p:sp>
          <p:nvSpPr>
            <p:cNvPr id="265" name="Google Shape;265;p28"/>
            <p:cNvSpPr/>
            <p:nvPr/>
          </p:nvSpPr>
          <p:spPr>
            <a:xfrm>
              <a:off x="732303" y="3128956"/>
              <a:ext cx="45600" cy="6585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Garamond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pic>
          <p:nvPicPr>
            <p:cNvPr id="266" name="Google Shape;266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18288" y="3154680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8"/>
            <p:cNvSpPr/>
            <p:nvPr/>
          </p:nvSpPr>
          <p:spPr>
            <a:xfrm>
              <a:off x="11414377" y="3128956"/>
              <a:ext cx="45600" cy="6585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Garamond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pic>
          <p:nvPicPr>
            <p:cNvPr id="268" name="Google Shape;268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11439144" y="3154680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9" name="Google Shape;269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6600" y="36991"/>
            <a:ext cx="12192000" cy="3750469"/>
          </a:xfrm>
          <a:prstGeom prst="rect">
            <a:avLst/>
          </a:prstGeom>
          <a:noFill/>
          <a:ln cap="flat" cmpd="sng" w="222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270" name="Google Shape;270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8412" y="3545849"/>
            <a:ext cx="12192000" cy="3310376"/>
          </a:xfrm>
          <a:prstGeom prst="rect">
            <a:avLst/>
          </a:prstGeom>
          <a:solidFill>
            <a:srgbClr val="62721F"/>
          </a:solidFill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9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b="1" lang="en-US" sz="5000"/>
              <a:t>Заключение и бъдещи планове</a:t>
            </a:r>
            <a:endParaRPr b="1" sz="5000"/>
          </a:p>
        </p:txBody>
      </p:sp>
      <p:sp>
        <p:nvSpPr>
          <p:cNvPr id="276" name="Google Shape;276;p29"/>
          <p:cNvSpPr txBox="1"/>
          <p:nvPr>
            <p:ph idx="1" type="body"/>
          </p:nvPr>
        </p:nvSpPr>
        <p:spPr>
          <a:xfrm>
            <a:off x="952800" y="2556925"/>
            <a:ext cx="9943800" cy="3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10"/>
              <a:buNone/>
            </a:pPr>
            <a:r>
              <a:rPr b="0" lang="en-US" sz="2500">
                <a:latin typeface="Garamond"/>
                <a:ea typeface="Garamond"/>
                <a:cs typeface="Garamond"/>
                <a:sym typeface="Garamond"/>
              </a:rPr>
              <a:t>prepAIred интегрира съвременни AI технологии в практическа платформа за подготовка и симулация на интервюта.</a:t>
            </a:r>
            <a:endParaRPr b="0" sz="2500"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None/>
            </a:pPr>
            <a:r>
              <a:rPr b="1" lang="en-US" sz="2500">
                <a:latin typeface="Garamond"/>
                <a:ea typeface="Garamond"/>
                <a:cs typeface="Garamond"/>
                <a:sym typeface="Garamond"/>
              </a:rPr>
              <a:t>Възможни бъдещи подобрения:</a:t>
            </a:r>
            <a:endParaRPr sz="2500"/>
          </a:p>
          <a:p>
            <a:pPr indent="-387350" lvl="0" marL="45720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SzPts val="2500"/>
              <a:buChar char="•"/>
            </a:pPr>
            <a:r>
              <a:rPr b="0" lang="en-US" sz="2500">
                <a:latin typeface="Garamond"/>
                <a:ea typeface="Garamond"/>
                <a:cs typeface="Garamond"/>
                <a:sym typeface="Garamond"/>
              </a:rPr>
              <a:t>Мобилно приложение чрез React Native/Electron</a:t>
            </a:r>
            <a:endParaRPr sz="2500"/>
          </a:p>
          <a:p>
            <a:pPr indent="-387350" lvl="0" marL="45720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SzPts val="2500"/>
              <a:buChar char="•"/>
            </a:pPr>
            <a:r>
              <a:rPr b="0" lang="en-US" sz="2500">
                <a:latin typeface="Garamond"/>
                <a:ea typeface="Garamond"/>
                <a:cs typeface="Garamond"/>
                <a:sym typeface="Garamond"/>
              </a:rPr>
              <a:t>По-детайлен анализ и проследяване на напредъка</a:t>
            </a:r>
            <a:endParaRPr sz="2500"/>
          </a:p>
          <a:p>
            <a:pPr indent="-387350" lvl="0" marL="45720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SzPts val="2500"/>
              <a:buChar char="•"/>
            </a:pPr>
            <a:r>
              <a:rPr b="0" lang="en-US" sz="2500">
                <a:latin typeface="Garamond"/>
                <a:ea typeface="Garamond"/>
                <a:cs typeface="Garamond"/>
                <a:sym typeface="Garamond"/>
              </a:rPr>
              <a:t>Допълнителни AI агенти и модели</a:t>
            </a:r>
            <a:endParaRPr sz="2500"/>
          </a:p>
          <a:p>
            <a:pPr indent="-387350" lvl="0" marL="457200" rtl="0" algn="l">
              <a:lnSpc>
                <a:spcPct val="100000"/>
              </a:lnSpc>
              <a:spcBef>
                <a:spcPts val="860"/>
              </a:spcBef>
              <a:spcAft>
                <a:spcPts val="500"/>
              </a:spcAft>
              <a:buSzPts val="2500"/>
              <a:buChar char="•"/>
            </a:pPr>
            <a:r>
              <a:rPr b="0" lang="en-US" sz="2500">
                <a:latin typeface="Garamond"/>
                <a:ea typeface="Garamond"/>
                <a:cs typeface="Garamond"/>
                <a:sym typeface="Garamond"/>
              </a:rPr>
              <a:t>WCAG 2.2, Section 508 и WAI-ARIA</a:t>
            </a:r>
            <a:endParaRPr sz="2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1" name="Google Shape;281;p30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282" name="Google Shape;282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30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cap="flat" cmpd="sng" w="15875">
              <a:solidFill>
                <a:schemeClr val="accent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pic>
          <p:nvPicPr>
            <p:cNvPr id="284" name="Google Shape;284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5" name="Google Shape;285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86" name="Google Shape;286;p30"/>
          <p:cNvCxnSpPr/>
          <p:nvPr/>
        </p:nvCxnSpPr>
        <p:spPr>
          <a:xfrm>
            <a:off x="2692399" y="3522131"/>
            <a:ext cx="681566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7" name="Google Shape;287;p30"/>
          <p:cNvSpPr/>
          <p:nvPr/>
        </p:nvSpPr>
        <p:spPr>
          <a:xfrm>
            <a:off x="0" y="2"/>
            <a:ext cx="12188952" cy="68580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88" name="Google Shape;288;p30"/>
          <p:cNvSpPr/>
          <p:nvPr/>
        </p:nvSpPr>
        <p:spPr>
          <a:xfrm>
            <a:off x="486138" y="496090"/>
            <a:ext cx="3823215" cy="5883295"/>
          </a:xfrm>
          <a:prstGeom prst="rect">
            <a:avLst/>
          </a:prstGeom>
          <a:blipFill rotWithShape="1">
            <a:blip r:embed="rId6">
              <a:alphaModFix/>
            </a:blip>
            <a:tile algn="tl" flip="none" tx="0" sx="100000" ty="0" sy="100000"/>
          </a:blipFill>
          <a:ln>
            <a:noFill/>
          </a:ln>
          <a:effectLst>
            <a:outerShdw blurRad="114300" sx="99000" rotWithShape="0" algn="t" dir="5400000" dist="127000" sy="99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89" name="Google Shape;289;p30"/>
          <p:cNvSpPr/>
          <p:nvPr/>
        </p:nvSpPr>
        <p:spPr>
          <a:xfrm>
            <a:off x="608012" y="609602"/>
            <a:ext cx="3552000" cy="5638800"/>
          </a:xfrm>
          <a:prstGeom prst="rect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90" name="Google Shape;290;p30"/>
          <p:cNvSpPr txBox="1"/>
          <p:nvPr>
            <p:ph type="title"/>
          </p:nvPr>
        </p:nvSpPr>
        <p:spPr>
          <a:xfrm>
            <a:off x="152000" y="2706175"/>
            <a:ext cx="44640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b="1" lang="en-US" sz="4800">
                <a:solidFill>
                  <a:srgbClr val="262626"/>
                </a:solidFill>
              </a:rPr>
              <a:t>Благодаря за вниманието!</a:t>
            </a:r>
            <a:endParaRPr b="1" sz="4800"/>
          </a:p>
        </p:txBody>
      </p:sp>
      <p:sp>
        <p:nvSpPr>
          <p:cNvPr id="291" name="Google Shape;291;p30"/>
          <p:cNvSpPr/>
          <p:nvPr/>
        </p:nvSpPr>
        <p:spPr>
          <a:xfrm>
            <a:off x="4792441" y="-887"/>
            <a:ext cx="73965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92" name="Google Shape;292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01050" y="8725"/>
            <a:ext cx="6858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rganic">
  <a:themeElements>
    <a:clrScheme name="Organic">
      <a:dk1>
        <a:srgbClr val="000000"/>
      </a:dk1>
      <a:lt1>
        <a:srgbClr val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